
<file path=[Content_Types].xml><?xml version="1.0" encoding="utf-8"?>
<Types xmlns="http://schemas.openxmlformats.org/package/2006/content-types">
  <Default Extension="jfif" ContentType="image/jpeg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9"/>
  </p:notesMasterIdLst>
  <p:sldIdLst>
    <p:sldId id="256" r:id="rId2"/>
    <p:sldId id="258" r:id="rId3"/>
    <p:sldId id="259" r:id="rId4"/>
    <p:sldId id="260" r:id="rId5"/>
    <p:sldId id="261" r:id="rId6"/>
    <p:sldId id="262" r:id="rId7"/>
    <p:sldId id="327" r:id="rId8"/>
    <p:sldId id="264" r:id="rId9"/>
    <p:sldId id="265" r:id="rId10"/>
    <p:sldId id="328" r:id="rId11"/>
    <p:sldId id="329" r:id="rId12"/>
    <p:sldId id="330" r:id="rId13"/>
    <p:sldId id="266" r:id="rId14"/>
    <p:sldId id="257" r:id="rId15"/>
    <p:sldId id="268" r:id="rId16"/>
    <p:sldId id="281" r:id="rId17"/>
    <p:sldId id="316" r:id="rId18"/>
    <p:sldId id="317" r:id="rId19"/>
    <p:sldId id="283" r:id="rId20"/>
    <p:sldId id="284" r:id="rId21"/>
    <p:sldId id="285" r:id="rId22"/>
    <p:sldId id="310" r:id="rId23"/>
    <p:sldId id="309" r:id="rId24"/>
    <p:sldId id="311" r:id="rId25"/>
    <p:sldId id="312" r:id="rId26"/>
    <p:sldId id="314" r:id="rId27"/>
    <p:sldId id="272" r:id="rId28"/>
    <p:sldId id="288" r:id="rId29"/>
    <p:sldId id="304" r:id="rId30"/>
    <p:sldId id="315" r:id="rId31"/>
    <p:sldId id="306" r:id="rId32"/>
    <p:sldId id="322" r:id="rId33"/>
    <p:sldId id="320" r:id="rId34"/>
    <p:sldId id="321" r:id="rId35"/>
    <p:sldId id="271" r:id="rId36"/>
    <p:sldId id="323" r:id="rId37"/>
    <p:sldId id="326" r:id="rId3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3484" autoAdjust="0"/>
  </p:normalViewPr>
  <p:slideViewPr>
    <p:cSldViewPr snapToGrid="0">
      <p:cViewPr>
        <p:scale>
          <a:sx n="66" d="100"/>
          <a:sy n="66" d="100"/>
        </p:scale>
        <p:origin x="1301" y="1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7B291D-9951-49D2-A228-2088C5832929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5AEB2F-2129-42D7-BDD8-84359A8182A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94499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br>
              <a:rPr lang="en-US" dirty="0"/>
            </a:br>
            <a:endParaRPr lang="en-US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5AEB2F-2129-42D7-BDD8-84359A8182A3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41187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2097A46-0E29-06A7-918F-FC5481C733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0759A8A-DA19-AB44-1DB2-AD675F02E2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88DCFB5-4F3B-CA31-02F2-5257DBCA8C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FADA9B-24BA-48CD-9230-C7BD223E9463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6E10C35-7633-EAC9-C230-0AD6220F60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5540ADF-62CD-31F4-413D-9C38599C50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C0D07-DABA-4AFF-B69B-00090ACD023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26155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3F3BC1A-B984-A2E4-5AF5-8A39DB2341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5CD8AE0-A1AF-8B4C-B0A5-AB853D6AC6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33C88B1-F33A-6FBB-25FD-A5A2ED42C8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FADA9B-24BA-48CD-9230-C7BD223E9463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4E3D64B-5F32-F3A5-E82A-877D334E8D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0468823-D5EF-3783-222B-9136330E08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C0D07-DABA-4AFF-B69B-00090ACD023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46886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14CBDC-4C06-2AF8-1E58-5EFC698625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44798AF-0CB2-8709-0A3E-85573B4F81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E6D10A0-F1F3-3378-618B-140880DB26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FADA9B-24BA-48CD-9230-C7BD223E9463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051F59A-93A5-FAF5-5882-8B15BC2A8F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742D737-4C2C-CFA4-7C4E-39060AE302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C0D07-DABA-4AFF-B69B-00090ACD023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89813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2C6B94A-0FB0-04C0-2EF3-21C6595EE9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DF03651-ED43-4A49-8BA1-F4A151AF2C0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7C64C460-FE9B-5296-1526-8D94999CCF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E9115F1-C114-9E8D-AD06-EDC4A4B565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FADA9B-24BA-48CD-9230-C7BD223E9463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69E5DFD-91CF-6892-FCE7-8B6201C735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A900AD8-B59E-9B1A-43D5-2F56F8E829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C0D07-DABA-4AFF-B69B-00090ACD023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78500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EDA5BD3-BD26-CCAA-A797-B08571870B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D232DC7-D536-1B96-D8C0-AAE64D63D8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F4F77418-5D93-3151-26F6-8F874DB45C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5F3077DC-D7EA-AC35-3218-812291CD409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E04B058B-602F-DFE0-23B2-DF1DB1802E4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7E71B669-F813-AFF5-4368-69843988CE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FADA9B-24BA-48CD-9230-C7BD223E9463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7C4479C3-8629-A34D-07A3-54587D75BA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CB704A73-74B5-B8DA-8A93-1A94663902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C0D07-DABA-4AFF-B69B-00090ACD023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10912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79061C8-B0C5-617E-9A4A-F42B3B7238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4D6DAC98-EE18-0EA1-505A-D7D60FA08C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FADA9B-24BA-48CD-9230-C7BD223E9463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C96893E4-B9C9-5922-B247-155BDE0943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95C5F5F0-9C3E-FAE8-F59E-A8D68E654B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C0D07-DABA-4AFF-B69B-00090ACD023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44356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B442823C-7D62-392A-084E-AC28E8D983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FADA9B-24BA-48CD-9230-C7BD223E9463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8158D4CE-40A6-00CA-F78C-16D9929AEF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94E9CA12-5370-24AF-66BF-761B61F54D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C0D07-DABA-4AFF-B69B-00090ACD023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89107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D41E1DD-6C8E-A77B-341A-47D7E04773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CF9EC36-9E0E-656F-3001-0CB588D3BB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AE3486BE-779E-1897-E672-3D7C32C589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7A26E8F-3317-0652-24D1-A48BE22E21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FADA9B-24BA-48CD-9230-C7BD223E9463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E0E01D3-80BE-22C4-2918-5EE13D1FF0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6086E67-3C26-EB37-7B52-13587EF8FF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C0D07-DABA-4AFF-B69B-00090ACD023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42974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AF5EC11-13CF-657B-F1B0-A4AB01E252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9BD31F75-72C8-B00C-CD3E-6C874867236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A0C89321-935C-1932-2C60-A1EA68763C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C9F3973-BDAB-F2AF-24D0-01D07AAA69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FADA9B-24BA-48CD-9230-C7BD223E9463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BF92FA2-3A31-EEF8-BC9C-130F2B5410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111C071-E8BD-0DAE-14B8-B95B3C7594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C0D07-DABA-4AFF-B69B-00090ACD023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4077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EB99A7B-1D33-5604-F593-D13DE89E34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073FD2A8-D83B-8289-4CF9-AA9ADA02A5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87576BF-CB99-E5D1-AB5C-42748F2767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FADA9B-24BA-48CD-9230-C7BD223E9463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0289590-70A5-4C84-499F-DE04D8C844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C5BFC50-C241-E6DE-CB8C-6C9E54B8F8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C0D07-DABA-4AFF-B69B-00090ACD023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05601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EEC5C90-C593-D0E3-21E1-E516BB8A034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B5D506A7-22BC-730F-24FD-FA5611DAA2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37DF412-2ED8-FB29-9BEA-3A8BFADA22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FADA9B-24BA-48CD-9230-C7BD223E9463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6D6735B-B267-9581-C20E-CC200EB2C4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0CDCD8D-34F4-6E50-DABC-DB0D542019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C0D07-DABA-4AFF-B69B-00090ACD023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75307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1E532431-3843-232A-3D9E-1A202F56E8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B64D38C-B783-2543-787F-9F58702A71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4877EBD-98E7-A4C2-52B6-A5F2B306D54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DFADA9B-24BA-48CD-9230-C7BD223E9463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6290F7B-9521-E096-26C9-891D219572A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5D3B92C-B65C-90AA-C05C-5689CAAF1D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A9C0D07-DABA-4AFF-B69B-00090ACD023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53666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a88aec8c.sslip.io/" TargetMode="External"/><Relationship Id="rId2" Type="http://schemas.openxmlformats.org/officeDocument/2006/relationships/hyperlink" Target="https://alanmoraes.com/ip/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fif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7B3E474-379B-97CF-AE63-6C12ED9A78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876475"/>
            <a:ext cx="9144000" cy="2387600"/>
          </a:xfrm>
        </p:spPr>
        <p:txBody>
          <a:bodyPr/>
          <a:lstStyle/>
          <a:p>
            <a:r>
              <a:rPr lang="pt-BR" dirty="0"/>
              <a:t>Introdução à Programação</a:t>
            </a:r>
            <a:br>
              <a:rPr lang="pt-BR" dirty="0"/>
            </a:br>
            <a:r>
              <a:rPr lang="pt-BR" dirty="0"/>
              <a:t>2026.1</a:t>
            </a:r>
            <a:endParaRPr lang="en-US" dirty="0"/>
          </a:p>
        </p:txBody>
      </p:sp>
      <p:sp>
        <p:nvSpPr>
          <p:cNvPr id="4" name="Subtítulo 3">
            <a:extLst>
              <a:ext uri="{FF2B5EF4-FFF2-40B4-BE49-F238E27FC236}">
                <a16:creationId xmlns:a16="http://schemas.microsoft.com/office/drawing/2014/main" id="{E9A1CFAC-1D64-317A-2B08-27C71FE518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416122"/>
            <a:ext cx="9144000" cy="1655762"/>
          </a:xfrm>
        </p:spPr>
        <p:txBody>
          <a:bodyPr/>
          <a:lstStyle/>
          <a:p>
            <a:r>
              <a:rPr lang="pt-BR" dirty="0"/>
              <a:t>Prof. Dr. Alan Moraes</a:t>
            </a:r>
            <a:br>
              <a:rPr lang="pt-BR" dirty="0"/>
            </a:br>
            <a:r>
              <a:rPr lang="pt-BR" dirty="0"/>
              <a:t>Laboratório de Tecnologias Digitais / DI / CI / UFPB</a:t>
            </a:r>
            <a:endParaRPr lang="en-US" dirty="0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8C52C4E4-8F54-C36F-99DB-9FDE71B5A023}"/>
              </a:ext>
            </a:extLst>
          </p:cNvPr>
          <p:cNvSpPr txBox="1"/>
          <p:nvPr/>
        </p:nvSpPr>
        <p:spPr>
          <a:xfrm>
            <a:off x="1709803" y="6334780"/>
            <a:ext cx="8772394" cy="461665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pt-BR" sz="1200" dirty="0"/>
              <a:t>Este trabalho é licenciado sob a Licença Pública </a:t>
            </a:r>
            <a:r>
              <a:rPr lang="pt-BR" sz="1200" dirty="0" err="1"/>
              <a:t>Creative</a:t>
            </a:r>
            <a:r>
              <a:rPr lang="pt-BR" sz="1200" dirty="0"/>
              <a:t> Commons Atribuição-</a:t>
            </a:r>
            <a:r>
              <a:rPr lang="pt-BR" sz="1200" dirty="0" err="1"/>
              <a:t>NãoComercial</a:t>
            </a:r>
            <a:r>
              <a:rPr lang="pt-BR" sz="1200" dirty="0"/>
              <a:t>-</a:t>
            </a:r>
            <a:r>
              <a:rPr lang="pt-BR" sz="1200" dirty="0" err="1"/>
              <a:t>CompartilhaIgual</a:t>
            </a:r>
            <a:r>
              <a:rPr lang="pt-BR" sz="1200" dirty="0"/>
              <a:t> 4.0 Internacional. </a:t>
            </a:r>
          </a:p>
          <a:p>
            <a:pPr algn="ctr"/>
            <a:r>
              <a:rPr lang="pt-BR" sz="1200" dirty="0"/>
              <a:t>Para ver uma cópia da licença visite https://creativecommons.org/licenses/by-nc-sa/4.0/deed.pt-br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B7658156-6544-BD24-FACA-06C67BD73DA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7090" y="31971"/>
            <a:ext cx="1899205" cy="1899205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5ABAC73A-6FE9-F824-A4F5-E6914F4DA72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53436" y="-147308"/>
            <a:ext cx="2192565" cy="2257762"/>
          </a:xfrm>
          <a:prstGeom prst="rect">
            <a:avLst/>
          </a:prstGeom>
        </p:spPr>
      </p:pic>
      <p:pic>
        <p:nvPicPr>
          <p:cNvPr id="6" name="Picture 12">
            <a:extLst>
              <a:ext uri="{FF2B5EF4-FFF2-40B4-BE49-F238E27FC236}">
                <a16:creationId xmlns:a16="http://schemas.microsoft.com/office/drawing/2014/main" id="{910338CB-6968-A6D1-FF65-E255935F29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57861" y="96816"/>
            <a:ext cx="1314028" cy="17695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ACD9BDA8-0CC1-4A96-DDE4-EA3E591DC55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59729" y="150137"/>
            <a:ext cx="1662873" cy="1662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03535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50EF6F5-F305-0C6D-3D01-9D205D26C3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Dados Gerais</a:t>
            </a:r>
            <a:endParaRPr lang="en-US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6355932-5096-9B5E-FAB3-7EE11FBA6C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b="1" dirty="0"/>
              <a:t>Turma:</a:t>
            </a:r>
            <a:r>
              <a:rPr lang="pt-BR" dirty="0"/>
              <a:t> 1107136 - INTRODUÇÃO A PROGRAMAÇÃO - T03 (2026.1)</a:t>
            </a:r>
          </a:p>
          <a:p>
            <a:r>
              <a:rPr lang="pt-BR" b="1" dirty="0"/>
              <a:t>Carga Horária: </a:t>
            </a:r>
            <a:r>
              <a:rPr lang="pt-BR" dirty="0"/>
              <a:t>60h</a:t>
            </a:r>
          </a:p>
          <a:p>
            <a:r>
              <a:rPr lang="pt-BR" b="1" dirty="0"/>
              <a:t>Horário: </a:t>
            </a:r>
            <a:r>
              <a:rPr lang="pt-BR" dirty="0"/>
              <a:t>Terças e quintas 10h às 12h</a:t>
            </a:r>
          </a:p>
          <a:p>
            <a:r>
              <a:rPr lang="en-US" b="1" dirty="0"/>
              <a:t>Local</a:t>
            </a:r>
            <a:r>
              <a:rPr lang="en-US" dirty="0"/>
              <a:t>: CAA 106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26075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97F3EDF-2355-D35C-760D-24EC4C3051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Programa do Componente Curricular</a:t>
            </a:r>
            <a:endParaRPr lang="en-US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DC503FB-D01C-2F88-B91A-78F651040E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pt-BR" b="1" dirty="0"/>
              <a:t>Ementa:</a:t>
            </a:r>
            <a:r>
              <a:rPr lang="pt-BR" dirty="0"/>
              <a:t> Histórico das linguagens de programação. Descrição e construção de algoritmos. Metodologia de programação. Introdução à uma linguagem de programação moderna: tipos elementares e compostos de dados; operadores; expressões e funções; mecanismos de passagem de parâmetros; variáveis e comandos; procedimentos; recursividade; tipos definidos pelo programador e tipos abstratos de dados; noções de estruturas dinâmicas de dados. Aplicações práticas.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20947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F9B528A-2371-C568-48E5-4CC6834A1D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Programa do Componente Curricular</a:t>
            </a:r>
            <a:endParaRPr lang="en-US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04072F5-D39A-2C86-D275-B07ED1D1D5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pt-BR" b="1" dirty="0"/>
              <a:t>Objetivos: </a:t>
            </a:r>
            <a:r>
              <a:rPr lang="pt-BR" dirty="0"/>
              <a:t>Capacitar os alunos para a organização do pensamento lógico e noções básicas de programação</a:t>
            </a:r>
          </a:p>
          <a:p>
            <a:pPr algn="just"/>
            <a:r>
              <a:rPr lang="pt-BR" b="1" dirty="0"/>
              <a:t>Conteúdo: </a:t>
            </a:r>
            <a:r>
              <a:rPr lang="pt-BR" dirty="0"/>
              <a:t>Princípios de computação; algoritmos e lógica de programação; estruturas de controle; funções; arquivos; linguagem de programação Python</a:t>
            </a:r>
          </a:p>
          <a:p>
            <a:pPr algn="just"/>
            <a:r>
              <a:rPr lang="en-US" b="1" dirty="0" err="1"/>
              <a:t>Habilidades</a:t>
            </a:r>
            <a:r>
              <a:rPr lang="en-US" b="1" dirty="0"/>
              <a:t> / </a:t>
            </a:r>
            <a:r>
              <a:rPr lang="en-US" b="1" dirty="0" err="1"/>
              <a:t>Competências</a:t>
            </a:r>
            <a:r>
              <a:rPr lang="en-US" dirty="0"/>
              <a:t>: </a:t>
            </a:r>
            <a:r>
              <a:rPr lang="pt-BR" dirty="0"/>
              <a:t>Lógica, organização de tarefas e programação de computadores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65773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43C6C94-B6FF-A882-C7BE-192EF4E579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Metodologia de Ensino e Avaliação</a:t>
            </a:r>
            <a:endParaRPr lang="en-US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79A0B9B-195C-638D-D5F8-422C088618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b="1" dirty="0"/>
              <a:t>Metodologia: </a:t>
            </a:r>
            <a:r>
              <a:rPr lang="pt-BR" dirty="0"/>
              <a:t>Aulas expositivas, resoluções de problemas, aulas práticas em laboratório (caso tenhamos laboratório)</a:t>
            </a:r>
          </a:p>
          <a:p>
            <a:r>
              <a:rPr lang="pt-BR" b="1" dirty="0"/>
              <a:t>Procedimentos de Avaliação da Aprendizagem: </a:t>
            </a:r>
            <a:r>
              <a:rPr lang="pt-BR" dirty="0"/>
              <a:t>3 provas escritas, com consulta. Presença mínima de 75% em sala de aula.</a:t>
            </a:r>
          </a:p>
          <a:p>
            <a:pPr algn="just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49716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E82BB9E-1CDD-49AD-7EDA-5D294027D0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Cronograma das Aulas	</a:t>
            </a:r>
            <a:endParaRPr lang="en-US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EC4AAA4-8B26-FF4A-8B88-1D7B03E6AC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28/04/2026 a 02/06/2026</a:t>
            </a:r>
            <a:r>
              <a:rPr lang="pt-BR" dirty="0"/>
              <a:t> – Unidade I</a:t>
            </a:r>
          </a:p>
          <a:p>
            <a:pPr lvl="1"/>
            <a:r>
              <a:rPr lang="pt-BR" dirty="0"/>
              <a:t>Introdução ao computador; </a:t>
            </a:r>
          </a:p>
          <a:p>
            <a:pPr lvl="1"/>
            <a:r>
              <a:rPr lang="pt-BR" dirty="0"/>
              <a:t>Lógica de programação e algoritmos; </a:t>
            </a:r>
          </a:p>
          <a:p>
            <a:pPr lvl="1"/>
            <a:r>
              <a:rPr lang="pt-BR" dirty="0"/>
              <a:t>Interpretador de Python e </a:t>
            </a:r>
            <a:r>
              <a:rPr lang="pt-BR" dirty="0" err="1"/>
              <a:t>PyPAM</a:t>
            </a:r>
            <a:r>
              <a:rPr lang="pt-BR" dirty="0"/>
              <a:t>; </a:t>
            </a:r>
          </a:p>
          <a:p>
            <a:pPr lvl="1"/>
            <a:r>
              <a:rPr lang="pt-BR" dirty="0"/>
              <a:t>Variáveis, atribuições e expressões</a:t>
            </a:r>
          </a:p>
          <a:p>
            <a:pPr lvl="1"/>
            <a:r>
              <a:rPr lang="pt-BR" dirty="0"/>
              <a:t>Tipos de dados: números, booleanos, </a:t>
            </a:r>
            <a:r>
              <a:rPr lang="pt-BR" dirty="0" err="1"/>
              <a:t>strings</a:t>
            </a:r>
            <a:r>
              <a:rPr lang="pt-BR" dirty="0"/>
              <a:t>, listas;</a:t>
            </a:r>
          </a:p>
          <a:p>
            <a:pPr lvl="1"/>
            <a:r>
              <a:rPr lang="pt-BR" dirty="0"/>
              <a:t>Entrada e saída</a:t>
            </a:r>
          </a:p>
          <a:p>
            <a:pPr lvl="1"/>
            <a:r>
              <a:rPr lang="pt-BR" dirty="0"/>
              <a:t>Estruturas de controle: </a:t>
            </a:r>
            <a:r>
              <a:rPr lang="en-US" dirty="0"/>
              <a:t>if, if-else, if-</a:t>
            </a:r>
            <a:r>
              <a:rPr lang="en-US" dirty="0" err="1"/>
              <a:t>elif</a:t>
            </a:r>
            <a:r>
              <a:rPr lang="en-US" dirty="0"/>
              <a:t>-else.</a:t>
            </a:r>
          </a:p>
          <a:p>
            <a:pPr marL="0" indent="0">
              <a:buNone/>
            </a:pPr>
            <a:endParaRPr lang="en-US" dirty="0"/>
          </a:p>
          <a:p>
            <a:pPr lvl="1"/>
            <a:endParaRPr lang="en-US" dirty="0"/>
          </a:p>
          <a:p>
            <a:pPr marL="457200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40160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9BBB46-95E5-1C46-0AD7-B59C70D930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4DCF3E3-2916-716E-DCEE-5AE7DE6511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Cronograma das Aulas	</a:t>
            </a:r>
            <a:endParaRPr lang="en-US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9A7BF1D-370D-21E7-659E-F5F1E2E2C6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09/06/2026 a 07/07/2026 – </a:t>
            </a:r>
            <a:r>
              <a:rPr lang="en-US" dirty="0" err="1"/>
              <a:t>Unidade</a:t>
            </a:r>
            <a:r>
              <a:rPr lang="en-US" dirty="0"/>
              <a:t> II</a:t>
            </a:r>
          </a:p>
          <a:p>
            <a:pPr lvl="1"/>
            <a:r>
              <a:rPr lang="en-US" dirty="0" err="1"/>
              <a:t>Estruturas</a:t>
            </a:r>
            <a:r>
              <a:rPr lang="en-US" dirty="0"/>
              <a:t> de </a:t>
            </a:r>
            <a:r>
              <a:rPr lang="en-US" dirty="0" err="1"/>
              <a:t>controle</a:t>
            </a:r>
            <a:r>
              <a:rPr lang="en-US" dirty="0"/>
              <a:t>: while, break, continue, for;</a:t>
            </a:r>
          </a:p>
          <a:p>
            <a:pPr lvl="1"/>
            <a:r>
              <a:rPr lang="en-US" dirty="0" err="1"/>
              <a:t>Estruturas</a:t>
            </a:r>
            <a:r>
              <a:rPr lang="en-US" dirty="0"/>
              <a:t> de dados: </a:t>
            </a:r>
            <a:r>
              <a:rPr lang="en-US" dirty="0" err="1"/>
              <a:t>tuplas</a:t>
            </a:r>
            <a:r>
              <a:rPr lang="en-US" dirty="0"/>
              <a:t>, </a:t>
            </a:r>
            <a:r>
              <a:rPr lang="en-US" dirty="0" err="1"/>
              <a:t>listas</a:t>
            </a:r>
            <a:r>
              <a:rPr lang="en-US" dirty="0"/>
              <a:t>, conjuntos, </a:t>
            </a:r>
            <a:r>
              <a:rPr lang="en-US" dirty="0" err="1"/>
              <a:t>dicionários</a:t>
            </a:r>
            <a:r>
              <a:rPr lang="en-US" dirty="0"/>
              <a:t>, </a:t>
            </a:r>
            <a:r>
              <a:rPr lang="en-US" dirty="0" err="1"/>
              <a:t>compreensão</a:t>
            </a:r>
            <a:r>
              <a:rPr lang="en-US" dirty="0"/>
              <a:t>;</a:t>
            </a:r>
          </a:p>
          <a:p>
            <a:pPr marL="457200" lvl="1" indent="0">
              <a:buNone/>
            </a:pPr>
            <a:endParaRPr lang="pt-BR" dirty="0"/>
          </a:p>
          <a:p>
            <a:pPr lvl="1"/>
            <a:endParaRPr lang="pt-BR" dirty="0"/>
          </a:p>
          <a:p>
            <a:endParaRPr lang="en-US" dirty="0"/>
          </a:p>
          <a:p>
            <a:pPr lvl="1"/>
            <a:endParaRPr lang="en-US" dirty="0"/>
          </a:p>
          <a:p>
            <a:pPr marL="457200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01520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13D58CE-B1EF-B669-0E00-D2D02C5885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Cronograma das Aulas	</a:t>
            </a:r>
            <a:endParaRPr lang="en-US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617806E-8BA7-150F-55B1-9BE030B8A3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09/07/2026 a 13/08/2026 – </a:t>
            </a:r>
            <a:r>
              <a:rPr lang="en-US" dirty="0" err="1"/>
              <a:t>Unidade</a:t>
            </a:r>
            <a:r>
              <a:rPr lang="en-US" dirty="0"/>
              <a:t> III</a:t>
            </a:r>
          </a:p>
          <a:p>
            <a:pPr lvl="1"/>
            <a:r>
              <a:rPr lang="en-US" dirty="0"/>
              <a:t>F</a:t>
            </a:r>
            <a:r>
              <a:rPr lang="pt-BR" dirty="0"/>
              <a:t>unções: d</a:t>
            </a:r>
            <a:r>
              <a:rPr lang="en-US" dirty="0" err="1"/>
              <a:t>efinição</a:t>
            </a:r>
            <a:r>
              <a:rPr lang="en-US" dirty="0"/>
              <a:t>, </a:t>
            </a:r>
            <a:r>
              <a:rPr lang="en-US" dirty="0" err="1"/>
              <a:t>parâmetros</a:t>
            </a:r>
            <a:r>
              <a:rPr lang="en-US" dirty="0"/>
              <a:t>, </a:t>
            </a:r>
            <a:r>
              <a:rPr lang="en-US" dirty="0" err="1"/>
              <a:t>retorno</a:t>
            </a:r>
            <a:r>
              <a:rPr lang="en-US" dirty="0"/>
              <a:t>, </a:t>
            </a:r>
            <a:r>
              <a:rPr lang="en-US" dirty="0" err="1"/>
              <a:t>recursividade</a:t>
            </a:r>
            <a:r>
              <a:rPr lang="en-US" dirty="0"/>
              <a:t>;</a:t>
            </a:r>
          </a:p>
          <a:p>
            <a:pPr lvl="1"/>
            <a:r>
              <a:rPr lang="en-US" dirty="0" err="1"/>
              <a:t>Arquivos</a:t>
            </a:r>
            <a:endParaRPr lang="en-US" dirty="0"/>
          </a:p>
          <a:p>
            <a:pPr lvl="1"/>
            <a:r>
              <a:rPr lang="en-US" dirty="0"/>
              <a:t>Biblioteca </a:t>
            </a:r>
            <a:r>
              <a:rPr lang="en-US" dirty="0" err="1"/>
              <a:t>padrão</a:t>
            </a:r>
            <a:endParaRPr lang="en-US" dirty="0"/>
          </a:p>
          <a:p>
            <a:pPr lvl="1"/>
            <a:r>
              <a:rPr lang="en-US" dirty="0" err="1"/>
              <a:t>Estudo</a:t>
            </a:r>
            <a:r>
              <a:rPr lang="en-US" dirty="0"/>
              <a:t> de </a:t>
            </a:r>
            <a:r>
              <a:rPr lang="en-US" dirty="0" err="1"/>
              <a:t>casos</a:t>
            </a:r>
            <a:r>
              <a:rPr lang="en-US" dirty="0"/>
              <a:t> (</a:t>
            </a:r>
            <a:r>
              <a:rPr lang="en-US" dirty="0" err="1"/>
              <a:t>PyGame</a:t>
            </a:r>
            <a:r>
              <a:rPr lang="en-US" dirty="0"/>
              <a:t>, Pandas, Matplotlib, NumPy, SciPy) 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68195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92E87C-E52B-7E16-033F-9F4E6768A8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Cronograma das Avaliações	</a:t>
            </a:r>
            <a:endParaRPr lang="en-US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000FD4C-123A-2A88-DEE5-1B346865F0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pt-BR" dirty="0"/>
              <a:t>02/06/2026 as 10:00 – 1ª avaliação</a:t>
            </a:r>
          </a:p>
          <a:p>
            <a:r>
              <a:rPr lang="pt-BR" dirty="0"/>
              <a:t>07/07/2026 as 10:00 – 2ª avaliação</a:t>
            </a:r>
          </a:p>
          <a:p>
            <a:r>
              <a:rPr lang="pt-BR" dirty="0"/>
              <a:t>04/08/2026 as 10:00 – 3ª avaliação</a:t>
            </a:r>
          </a:p>
          <a:p>
            <a:r>
              <a:rPr lang="pt-BR" dirty="0"/>
              <a:t>06/08/2026 às 10:00 – Reposição </a:t>
            </a:r>
          </a:p>
          <a:p>
            <a:r>
              <a:rPr lang="pt-BR" dirty="0"/>
              <a:t>13/08/2026 às 10:00 – Exame Final </a:t>
            </a:r>
          </a:p>
          <a:p>
            <a:endParaRPr lang="pt-BR" dirty="0"/>
          </a:p>
          <a:p>
            <a:endParaRPr lang="pt-BR" dirty="0"/>
          </a:p>
          <a:p>
            <a:r>
              <a:rPr lang="pt-BR" dirty="0"/>
              <a:t>1ª, 2ª e 3ª avaliações com consulta de material próprio escrito à mão</a:t>
            </a:r>
          </a:p>
          <a:p>
            <a:r>
              <a:rPr lang="pt-BR" dirty="0"/>
              <a:t>Traga seu material escolar para as provas</a:t>
            </a:r>
          </a:p>
          <a:p>
            <a:endParaRPr lang="pt-BR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23367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7E246C-9504-5937-A5D5-4394CF63E3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Frequência</a:t>
            </a:r>
            <a:endParaRPr lang="en-US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34F4211-7DD9-18DE-E3A3-AA727EE6AF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 algn="just">
              <a:buNone/>
            </a:pPr>
            <a:r>
              <a:rPr lang="pt-BR" dirty="0"/>
              <a:t>Art. 83. A verificação do desempenho acadêmico e da assiduidade serão realizadas ao longo do período letivo, compreendendo:</a:t>
            </a:r>
          </a:p>
          <a:p>
            <a:pPr marL="0" indent="0" algn="just">
              <a:buNone/>
            </a:pPr>
            <a:r>
              <a:rPr lang="pt-BR" dirty="0"/>
              <a:t>I – Avaliação da aprendizagem.</a:t>
            </a:r>
          </a:p>
          <a:p>
            <a:pPr marL="0" indent="0" algn="just">
              <a:buNone/>
            </a:pPr>
            <a:r>
              <a:rPr lang="pt-BR" dirty="0"/>
              <a:t>II – Verificação de frequência nas atividades didáticas de cada componente curricular.</a:t>
            </a:r>
          </a:p>
          <a:p>
            <a:pPr marL="0" indent="0" algn="just">
              <a:buNone/>
            </a:pPr>
            <a:endParaRPr lang="pt-BR" dirty="0"/>
          </a:p>
          <a:p>
            <a:pPr marL="0" indent="0" algn="just">
              <a:buNone/>
            </a:pPr>
            <a:r>
              <a:rPr lang="pt-BR" dirty="0"/>
              <a:t>§1º. A aprovação em um componente curricular está condicionada à obtenção do desempenho acadêmico mínimo exigido na avaliação da aprendizagem e à frequência mínima de 75% (setenta e cinco por cento) do discente para os componentes curriculares presenciais.</a:t>
            </a:r>
          </a:p>
        </p:txBody>
      </p:sp>
    </p:spTree>
    <p:extLst>
      <p:ext uri="{BB962C8B-B14F-4D97-AF65-F5344CB8AC3E}">
        <p14:creationId xmlns:p14="http://schemas.microsoft.com/office/powerpoint/2010/main" val="21823629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458F3D5-50C1-4A33-FB7F-7ED27C908E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Frequência</a:t>
            </a:r>
            <a:endParaRPr lang="en-US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5D754FA-6327-0448-4E99-959E392638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pt-BR" dirty="0"/>
              <a:t>§4º. Não haverá abono de faltas, ressalvados os casos previstos nas legislações especificadas a seguir:</a:t>
            </a:r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r>
              <a:rPr lang="pt-BR" dirty="0"/>
              <a:t>I – Decreto-Lei nº 1.044, de 21 de outubro de 1969, que institui o regime de exercícios domiciliares.</a:t>
            </a:r>
          </a:p>
          <a:p>
            <a:pPr marL="0" indent="0">
              <a:buNone/>
            </a:pPr>
            <a:r>
              <a:rPr lang="pt-BR" dirty="0"/>
              <a:t>II – Lei nº 6.202, de 17 de abril de 1975, que dispõe sobre a licença-gestante.</a:t>
            </a:r>
          </a:p>
          <a:p>
            <a:pPr marL="0" indent="0">
              <a:buNone/>
            </a:pPr>
            <a:r>
              <a:rPr lang="pt-BR" dirty="0"/>
              <a:t>III – Lei n° 10.861, de 14 de abril de 2004, que determina que as Instituições de Educação Superior devam abonar as faltas do discente que tenha sido designado membro da Comissão Nacional de Avaliação da Educação Superior – CONAES e que tenha participado de reuniões em horários coincidentes com os das atividades acadêmicas.</a:t>
            </a:r>
          </a:p>
          <a:p>
            <a:pPr marL="0" indent="0">
              <a:buNone/>
            </a:pPr>
            <a:r>
              <a:rPr lang="pt-BR" dirty="0"/>
              <a:t>IV – Lei nº 4.375, de 17 de agosto de 1964, que dispõe sobre o serviço militar.</a:t>
            </a:r>
          </a:p>
          <a:p>
            <a:pPr marL="0" indent="0">
              <a:buNone/>
            </a:pPr>
            <a:r>
              <a:rPr lang="pt-BR" dirty="0"/>
              <a:t>V – Representação discente devidamente comprovada em conselhos superiores e colegiados da UFPB.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11034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D1FE4D58-AA3B-03AA-EE07-5C7DC467CC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991" y="0"/>
            <a:ext cx="998201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76334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7CC88A-AEC5-2555-DA94-C99377BCC5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Referências</a:t>
            </a:r>
            <a:endParaRPr lang="en-US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90A553B-19CD-1F2E-5BE2-934AE8D62B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pt-BR" dirty="0"/>
              <a:t>Notas de aula do Prof. Alan Moraes - </a:t>
            </a:r>
            <a:r>
              <a:rPr lang="en-US" dirty="0">
                <a:hlinkClick r:id="rId2"/>
              </a:rPr>
              <a:t>https://alanmoraes.com/ip/</a:t>
            </a:r>
            <a:endParaRPr lang="en-US" dirty="0"/>
          </a:p>
          <a:p>
            <a:pPr algn="just"/>
            <a:r>
              <a:rPr lang="en-US" dirty="0" err="1"/>
              <a:t>PyPAM</a:t>
            </a:r>
            <a:r>
              <a:rPr lang="en-US" dirty="0"/>
              <a:t> - </a:t>
            </a:r>
            <a:r>
              <a:rPr lang="en-US" dirty="0">
                <a:hlinkClick r:id="rId3"/>
              </a:rPr>
              <a:t>https://a88aec8c.sslip.io/</a:t>
            </a:r>
            <a:r>
              <a:rPr lang="en-US" dirty="0"/>
              <a:t> </a:t>
            </a:r>
          </a:p>
          <a:p>
            <a:pPr algn="just"/>
            <a:r>
              <a:rPr lang="pt-BR" dirty="0"/>
              <a:t>NETO, Roberto Fernandes T.; SILVA, Fábio Molina da. </a:t>
            </a:r>
            <a:r>
              <a:rPr lang="pt-BR" b="1" dirty="0"/>
              <a:t>Introdução à Programação para Engenharia: Usando a Linguagem Python</a:t>
            </a:r>
            <a:r>
              <a:rPr lang="pt-BR" dirty="0"/>
              <a:t>. 1a edição. Rio de Janeiro: LTC. 2022</a:t>
            </a:r>
          </a:p>
          <a:p>
            <a:pPr algn="just"/>
            <a:r>
              <a:rPr lang="pt-BR" dirty="0"/>
              <a:t>TAVARES, </a:t>
            </a:r>
            <a:r>
              <a:rPr lang="pt-BR" dirty="0" err="1"/>
              <a:t>Luis</a:t>
            </a:r>
            <a:r>
              <a:rPr lang="pt-BR" dirty="0"/>
              <a:t> Antônio; SIMÕES, Henrique da Fonseca. </a:t>
            </a:r>
            <a:r>
              <a:rPr lang="pt-BR" b="1" dirty="0"/>
              <a:t>Introdução à Programação Científica com Python</a:t>
            </a:r>
            <a:r>
              <a:rPr lang="pt-BR" dirty="0"/>
              <a:t>. 1a edição. Rio de Janeiro: Editora Ciência Moderna. 2021</a:t>
            </a:r>
          </a:p>
          <a:p>
            <a:pPr algn="just"/>
            <a:r>
              <a:rPr lang="pt-BR" dirty="0"/>
              <a:t>SILVA, Sidinei. </a:t>
            </a:r>
            <a:r>
              <a:rPr lang="pt-BR" b="1" dirty="0"/>
              <a:t>Introdução ao </a:t>
            </a:r>
            <a:r>
              <a:rPr lang="pt-BR" b="1" dirty="0" err="1"/>
              <a:t>python</a:t>
            </a:r>
            <a:r>
              <a:rPr lang="pt-BR" b="1" dirty="0"/>
              <a:t> para engenharia química</a:t>
            </a:r>
            <a:r>
              <a:rPr lang="pt-BR" dirty="0"/>
              <a:t>. 1a edição. São Paulo: </a:t>
            </a:r>
            <a:r>
              <a:rPr lang="pt-BR" dirty="0" err="1"/>
              <a:t>Blucher</a:t>
            </a:r>
            <a:r>
              <a:rPr lang="pt-BR" dirty="0"/>
              <a:t>. 2023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78500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284E1A-E9F1-1C54-FBC5-30F9F0FA12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Grupo no Telegram</a:t>
            </a:r>
            <a:endParaRPr lang="en-US" dirty="0"/>
          </a:p>
        </p:txBody>
      </p:sp>
      <p:pic>
        <p:nvPicPr>
          <p:cNvPr id="19" name="Espaço Reservado para Conteúdo 18">
            <a:extLst>
              <a:ext uri="{FF2B5EF4-FFF2-40B4-BE49-F238E27FC236}">
                <a16:creationId xmlns:a16="http://schemas.microsoft.com/office/drawing/2014/main" id="{006C40E8-E767-23B9-F304-A7EDB7DBB48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920331" y="1825625"/>
            <a:ext cx="4351338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028509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2" descr="http://www.success-beach.com/files/cache/42ef1db2e0a09b3db3e0997798ca0481_f11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ítulo 3"/>
          <p:cNvSpPr>
            <a:spLocks noGrp="1"/>
          </p:cNvSpPr>
          <p:nvPr>
            <p:ph type="ctrTitle" idx="4294967295"/>
          </p:nvPr>
        </p:nvSpPr>
        <p:spPr>
          <a:xfrm>
            <a:off x="1559496" y="836713"/>
            <a:ext cx="5760640" cy="1470025"/>
          </a:xfrm>
        </p:spPr>
        <p:txBody>
          <a:bodyPr>
            <a:noAutofit/>
          </a:bodyPr>
          <a:lstStyle/>
          <a:p>
            <a:r>
              <a:rPr lang="pt-BR" sz="54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 Black" panose="02000000000000000000" pitchFamily="2" charset="0"/>
                <a:ea typeface="Roboto Black" panose="02000000000000000000" pitchFamily="2" charset="0"/>
              </a:rPr>
              <a:t>Como passar com </a:t>
            </a:r>
            <a:br>
              <a:rPr lang="pt-BR" sz="54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 Black" panose="02000000000000000000" pitchFamily="2" charset="0"/>
                <a:ea typeface="Roboto Black" panose="02000000000000000000" pitchFamily="2" charset="0"/>
              </a:rPr>
            </a:br>
            <a:r>
              <a:rPr lang="pt-BR" sz="54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 Black" panose="02000000000000000000" pitchFamily="2" charset="0"/>
                <a:ea typeface="Roboto Black" panose="02000000000000000000" pitchFamily="2" charset="0"/>
              </a:rPr>
              <a:t>média 10,0?</a:t>
            </a:r>
          </a:p>
        </p:txBody>
      </p:sp>
    </p:spTree>
    <p:extLst>
      <p:ext uri="{BB962C8B-B14F-4D97-AF65-F5344CB8AC3E}">
        <p14:creationId xmlns:p14="http://schemas.microsoft.com/office/powerpoint/2010/main" val="46509521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ttps://lu.usembassy.gov/wp-content/uploads/sites/198/2015/06/scholarship_girl-750x500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3592" y="1398746"/>
            <a:ext cx="7488832" cy="49925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tângulo 1"/>
          <p:cNvSpPr/>
          <p:nvPr/>
        </p:nvSpPr>
        <p:spPr>
          <a:xfrm>
            <a:off x="5449831" y="476673"/>
            <a:ext cx="1292341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4400">
                <a:solidFill>
                  <a:srgbClr val="00B050"/>
                </a:solidFill>
                <a:latin typeface="Yanone Kaffeesatz Bold" pitchFamily="50" charset="0"/>
              </a:rPr>
              <a:t>Estude</a:t>
            </a:r>
            <a:endParaRPr lang="pt-BR" sz="4400"/>
          </a:p>
        </p:txBody>
      </p:sp>
    </p:spTree>
    <p:extLst>
      <p:ext uri="{BB962C8B-B14F-4D97-AF65-F5344CB8AC3E}">
        <p14:creationId xmlns:p14="http://schemas.microsoft.com/office/powerpoint/2010/main" val="38908295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1AA85D-5926-0AE9-A26B-B0AEB61C1B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>
            <a:extLst>
              <a:ext uri="{FF2B5EF4-FFF2-40B4-BE49-F238E27FC236}">
                <a16:creationId xmlns:a16="http://schemas.microsoft.com/office/drawing/2014/main" id="{B4C70F6E-8C74-B2ED-1F57-1C955E6EB0C1}"/>
              </a:ext>
            </a:extLst>
          </p:cNvPr>
          <p:cNvSpPr/>
          <p:nvPr/>
        </p:nvSpPr>
        <p:spPr>
          <a:xfrm>
            <a:off x="5449831" y="476673"/>
            <a:ext cx="1292341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4400">
                <a:solidFill>
                  <a:srgbClr val="00B050"/>
                </a:solidFill>
                <a:latin typeface="Yanone Kaffeesatz Bold" pitchFamily="50" charset="0"/>
              </a:rPr>
              <a:t>Estude</a:t>
            </a:r>
            <a:endParaRPr lang="pt-BR" sz="4400"/>
          </a:p>
        </p:txBody>
      </p:sp>
      <p:pic>
        <p:nvPicPr>
          <p:cNvPr id="2" name="Picture 4" descr="Núcleo de Apoio Financeiro e Monitoria - FACSUR">
            <a:extLst>
              <a:ext uri="{FF2B5EF4-FFF2-40B4-BE49-F238E27FC236}">
                <a16:creationId xmlns:a16="http://schemas.microsoft.com/office/drawing/2014/main" id="{FEB2CE54-8984-095F-3FB6-FD19A8D990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54211" y="1407478"/>
            <a:ext cx="7283578" cy="48534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4235620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https://www.brainscape.com/blog/wp-content/uploads/2011/11/696dcdd6157d0438eed57eac9b6266b5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3553" y="1340768"/>
            <a:ext cx="8238631" cy="48282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tângulo 6"/>
          <p:cNvSpPr/>
          <p:nvPr/>
        </p:nvSpPr>
        <p:spPr>
          <a:xfrm>
            <a:off x="5449831" y="476673"/>
            <a:ext cx="1292341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4400">
                <a:solidFill>
                  <a:srgbClr val="00B050"/>
                </a:solidFill>
                <a:latin typeface="Yanone Kaffeesatz Bold" pitchFamily="50" charset="0"/>
              </a:rPr>
              <a:t>Estude</a:t>
            </a:r>
            <a:endParaRPr lang="pt-BR" sz="4400"/>
          </a:p>
        </p:txBody>
      </p:sp>
    </p:spTree>
    <p:extLst>
      <p:ext uri="{BB962C8B-B14F-4D97-AF65-F5344CB8AC3E}">
        <p14:creationId xmlns:p14="http://schemas.microsoft.com/office/powerpoint/2010/main" val="48157465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 descr="http://intoo.com/wp-content/uploads/2017/07/TUPE-1200x800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3553" y="1412776"/>
            <a:ext cx="8101781" cy="52437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tângulo 5"/>
          <p:cNvSpPr/>
          <p:nvPr/>
        </p:nvSpPr>
        <p:spPr>
          <a:xfrm>
            <a:off x="4480820" y="476673"/>
            <a:ext cx="3230373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Bef>
                <a:spcPct val="0"/>
              </a:spcBef>
            </a:pPr>
            <a:r>
              <a:rPr lang="pt-BR" sz="4400">
                <a:solidFill>
                  <a:srgbClr val="7030A0"/>
                </a:solidFill>
                <a:latin typeface="Yanone Kaffeesatz Bold" pitchFamily="50" charset="0"/>
                <a:ea typeface="Roboto Black" panose="02000000000000000000" pitchFamily="2" charset="0"/>
              </a:rPr>
              <a:t>Participe das aulas</a:t>
            </a:r>
          </a:p>
        </p:txBody>
      </p:sp>
    </p:spTree>
    <p:extLst>
      <p:ext uri="{BB962C8B-B14F-4D97-AF65-F5344CB8AC3E}">
        <p14:creationId xmlns:p14="http://schemas.microsoft.com/office/powerpoint/2010/main" val="108258085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20" name="Picture 24" descr="https://lh3.googleusercontent.com/Ned_Tu_ge6GgJZ_lIO_5mieIEmjDpq9kfgD05wapmvzcInvT4qQMxhxq_hEazf8ZsqA=w300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80136" y="3470749"/>
            <a:ext cx="2857500" cy="285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22" name="Picture 26" descr="https://lh3.googleusercontent.com/UrY7BAZ-XfXGpfkeWg0zCCeo-7ras4DCoRalC_WXXWTK9q5b0Iw7B0YQMsVxZaNB7DM=w30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90914" y="3470749"/>
            <a:ext cx="2857500" cy="285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24" name="Picture 28" descr="https://lh5.ggpht.com/0VYAvZLR9YhosF-thqm8xl8EWsCfrEY_uk2og2f59K8IOx5TfPsXjFVwxaHVnUbuEjc=w300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04468" y="249480"/>
            <a:ext cx="2857500" cy="285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26" name="Picture 30" descr="https://lh3.googleusercontent.com/ZZPdzvlpK9r_Df9C3M7j1rNRi7hhHRvPhlklJ3lfi5jk86Jd1s0Y5wcQ1QgbVaAP5Q=w300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0328" y="3470749"/>
            <a:ext cx="2857500" cy="285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28" name="Picture 32" descr="https://lh6.ggpht.com/mp86vbELnqLi2FzvhiKdPX31_oiTRLNyeK8x4IIrbF5eD1D5RdnVwjQP0hwMNR_JdA=w300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6968" y="249480"/>
            <a:ext cx="2857500" cy="285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30" name="Picture 34" descr="https://lh3.googleusercontent.com/aYbdIM1abwyVSUZLDKoE0CDZGRhlkpsaPOg9tNnBktUQYsXflwknnOn2Ge1Yr7rImGk=w300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8414" y="249480"/>
            <a:ext cx="2857500" cy="285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8918029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20" name="Picture 24" descr="https://lh3.googleusercontent.com/Ned_Tu_ge6GgJZ_lIO_5mieIEmjDpq9kfgD05wapmvzcInvT4qQMxhxq_hEazf8ZsqA=w300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80136" y="3470749"/>
            <a:ext cx="2857500" cy="285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22" name="Picture 26" descr="https://lh3.googleusercontent.com/UrY7BAZ-XfXGpfkeWg0zCCeo-7ras4DCoRalC_WXXWTK9q5b0Iw7B0YQMsVxZaNB7DM=w30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90914" y="3470749"/>
            <a:ext cx="2857500" cy="285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24" name="Picture 28" descr="https://lh5.ggpht.com/0VYAvZLR9YhosF-thqm8xl8EWsCfrEY_uk2og2f59K8IOx5TfPsXjFVwxaHVnUbuEjc=w300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04468" y="249480"/>
            <a:ext cx="2857500" cy="285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26" name="Picture 30" descr="https://lh3.googleusercontent.com/ZZPdzvlpK9r_Df9C3M7j1rNRi7hhHRvPhlklJ3lfi5jk86Jd1s0Y5wcQ1QgbVaAP5Q=w300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0328" y="3470749"/>
            <a:ext cx="2857500" cy="285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28" name="Picture 32" descr="https://lh6.ggpht.com/mp86vbELnqLi2FzvhiKdPX31_oiTRLNyeK8x4IIrbF5eD1D5RdnVwjQP0hwMNR_JdA=w300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6968" y="249480"/>
            <a:ext cx="2857500" cy="285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30" name="Picture 34" descr="https://lh3.googleusercontent.com/aYbdIM1abwyVSUZLDKoE0CDZGRhlkpsaPOg9tNnBktUQYsXflwknnOn2Ge1Yr7rImGk=w300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8414" y="249480"/>
            <a:ext cx="2857500" cy="285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Multiplicar 1"/>
          <p:cNvSpPr/>
          <p:nvPr/>
        </p:nvSpPr>
        <p:spPr>
          <a:xfrm>
            <a:off x="2003844" y="44625"/>
            <a:ext cx="7908580" cy="6771973"/>
          </a:xfrm>
          <a:prstGeom prst="mathMultiply">
            <a:avLst/>
          </a:prstGeom>
          <a:solidFill>
            <a:srgbClr val="FF0000"/>
          </a:solidFill>
          <a:ln>
            <a:solidFill>
              <a:schemeClr val="tx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8905462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C9D85DEA-5C21-4ED7-B79E-DD57E68F47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104292"/>
            <a:ext cx="9144000" cy="6649416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123610762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8255E07F-D02E-4022-8D37-CE210F4239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7252" y="0"/>
            <a:ext cx="8097496" cy="6858000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119810274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https://media.wired.com/photos/5932596e44db296121d6a782/master/w_1000,c_limit/20140602_SLIDE_POWER_OFF_IPHONE20140602_0020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2982" y="664247"/>
            <a:ext cx="8479482" cy="56558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7464530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20" name="Picture 4" descr="https://siteimages.textbooks.com/uploads/2013/10/Best-Pens-for-Taking-Notes-College-Textbookscom-blog-option1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6938" y="1412776"/>
            <a:ext cx="7858125" cy="5238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tângulo 3"/>
          <p:cNvSpPr/>
          <p:nvPr/>
        </p:nvSpPr>
        <p:spPr>
          <a:xfrm>
            <a:off x="4763745" y="476673"/>
            <a:ext cx="2664512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Bef>
                <a:spcPct val="0"/>
              </a:spcBef>
            </a:pPr>
            <a:r>
              <a:rPr lang="pt-BR" sz="4400">
                <a:solidFill>
                  <a:srgbClr val="7030A0"/>
                </a:solidFill>
                <a:latin typeface="Yanone Kaffeesatz Bold" pitchFamily="50" charset="0"/>
                <a:ea typeface="Roboto Black" panose="02000000000000000000" pitchFamily="2" charset="0"/>
              </a:rPr>
              <a:t>Faça anotações</a:t>
            </a:r>
          </a:p>
        </p:txBody>
      </p:sp>
    </p:spTree>
    <p:extLst>
      <p:ext uri="{BB962C8B-B14F-4D97-AF65-F5344CB8AC3E}">
        <p14:creationId xmlns:p14="http://schemas.microsoft.com/office/powerpoint/2010/main" val="60617835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7AB3046E-AA00-45C2-AEB4-351D1AD2C3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110038"/>
            <a:ext cx="9144000" cy="6637925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298458605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 descr="http://goodereader.com/blog/uploads/images/o-READING-PILE-OF-BOOKS-facebook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7594" y="1738797"/>
            <a:ext cx="8676878" cy="43384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tângulo 3"/>
          <p:cNvSpPr/>
          <p:nvPr/>
        </p:nvSpPr>
        <p:spPr>
          <a:xfrm>
            <a:off x="4551356" y="476673"/>
            <a:ext cx="3089308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Bef>
                <a:spcPct val="0"/>
              </a:spcBef>
            </a:pPr>
            <a:r>
              <a:rPr lang="pt-BR" sz="4400">
                <a:solidFill>
                  <a:srgbClr val="7030A0"/>
                </a:solidFill>
                <a:latin typeface="Yanone Kaffeesatz Bold" pitchFamily="50" charset="0"/>
                <a:ea typeface="Roboto Black" panose="02000000000000000000" pitchFamily="2" charset="0"/>
              </a:rPr>
              <a:t>Leia a bibliografia</a:t>
            </a:r>
          </a:p>
        </p:txBody>
      </p:sp>
    </p:spTree>
    <p:extLst>
      <p:ext uri="{BB962C8B-B14F-4D97-AF65-F5344CB8AC3E}">
        <p14:creationId xmlns:p14="http://schemas.microsoft.com/office/powerpoint/2010/main" val="45363267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ttp://watchnews.com.mx/wp-content/uploads/2017/07/acumulador.1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7569" y="1341422"/>
            <a:ext cx="7883895" cy="52559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aixaDeTexto 2"/>
          <p:cNvSpPr txBox="1"/>
          <p:nvPr/>
        </p:nvSpPr>
        <p:spPr>
          <a:xfrm>
            <a:off x="3290585" y="548681"/>
            <a:ext cx="561083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spcBef>
                <a:spcPct val="0"/>
              </a:spcBef>
            </a:pPr>
            <a:r>
              <a:rPr lang="pt-BR" sz="4400">
                <a:solidFill>
                  <a:srgbClr val="7030A0"/>
                </a:solidFill>
                <a:latin typeface="Yanone Kaffeesatz Bold" pitchFamily="50" charset="0"/>
                <a:ea typeface="Roboto Black" panose="02000000000000000000" pitchFamily="2" charset="0"/>
                <a:cs typeface="+mj-cs"/>
              </a:rPr>
              <a:t>Não acumule conteúdo e trabalho</a:t>
            </a:r>
          </a:p>
        </p:txBody>
      </p:sp>
    </p:spTree>
    <p:extLst>
      <p:ext uri="{BB962C8B-B14F-4D97-AF65-F5344CB8AC3E}">
        <p14:creationId xmlns:p14="http://schemas.microsoft.com/office/powerpoint/2010/main" val="89095319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ttps://lu.usembassy.gov/wp-content/uploads/sites/198/2015/06/scholarship_girl-750x500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3592" y="1398746"/>
            <a:ext cx="7488832" cy="49925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tângulo 1"/>
          <p:cNvSpPr/>
          <p:nvPr/>
        </p:nvSpPr>
        <p:spPr>
          <a:xfrm>
            <a:off x="5449831" y="476673"/>
            <a:ext cx="1292341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4400">
                <a:solidFill>
                  <a:srgbClr val="00B050"/>
                </a:solidFill>
                <a:latin typeface="Yanone Kaffeesatz Bold" pitchFamily="50" charset="0"/>
              </a:rPr>
              <a:t>Estude</a:t>
            </a:r>
            <a:endParaRPr lang="pt-BR" sz="4400"/>
          </a:p>
        </p:txBody>
      </p:sp>
    </p:spTree>
    <p:extLst>
      <p:ext uri="{BB962C8B-B14F-4D97-AF65-F5344CB8AC3E}">
        <p14:creationId xmlns:p14="http://schemas.microsoft.com/office/powerpoint/2010/main" val="176851840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703DAB-6717-4247-5EAD-CE19FD95D1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https://www.brainscape.com/blog/wp-content/uploads/2011/11/696dcdd6157d0438eed57eac9b6266b5.jpg">
            <a:extLst>
              <a:ext uri="{FF2B5EF4-FFF2-40B4-BE49-F238E27FC236}">
                <a16:creationId xmlns:a16="http://schemas.microsoft.com/office/drawing/2014/main" id="{3A61F78D-16AF-4087-C4A1-A7002402FF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3553" y="1340768"/>
            <a:ext cx="8238631" cy="48282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tângulo 6">
            <a:extLst>
              <a:ext uri="{FF2B5EF4-FFF2-40B4-BE49-F238E27FC236}">
                <a16:creationId xmlns:a16="http://schemas.microsoft.com/office/drawing/2014/main" id="{953984BA-54F4-A7E8-DF7E-43A1563463DD}"/>
              </a:ext>
            </a:extLst>
          </p:cNvPr>
          <p:cNvSpPr/>
          <p:nvPr/>
        </p:nvSpPr>
        <p:spPr>
          <a:xfrm>
            <a:off x="5449831" y="476673"/>
            <a:ext cx="1292341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4400">
                <a:solidFill>
                  <a:srgbClr val="00B050"/>
                </a:solidFill>
                <a:latin typeface="Yanone Kaffeesatz Bold" pitchFamily="50" charset="0"/>
              </a:rPr>
              <a:t>Estude</a:t>
            </a:r>
            <a:endParaRPr lang="pt-BR" sz="4400"/>
          </a:p>
        </p:txBody>
      </p:sp>
    </p:spTree>
    <p:extLst>
      <p:ext uri="{BB962C8B-B14F-4D97-AF65-F5344CB8AC3E}">
        <p14:creationId xmlns:p14="http://schemas.microsoft.com/office/powerpoint/2010/main" val="220125065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/>
          <p:cNvSpPr/>
          <p:nvPr/>
        </p:nvSpPr>
        <p:spPr>
          <a:xfrm>
            <a:off x="5449831" y="476673"/>
            <a:ext cx="1292341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4400">
                <a:solidFill>
                  <a:srgbClr val="00B050"/>
                </a:solidFill>
                <a:latin typeface="Yanone Kaffeesatz Bold" pitchFamily="50" charset="0"/>
              </a:rPr>
              <a:t>Estude</a:t>
            </a:r>
            <a:endParaRPr lang="pt-BR" sz="4400"/>
          </a:p>
        </p:txBody>
      </p:sp>
      <p:pic>
        <p:nvPicPr>
          <p:cNvPr id="2" name="Picture 4" descr="Núcleo de Apoio Financeiro e Monitoria - FACSUR">
            <a:extLst>
              <a:ext uri="{FF2B5EF4-FFF2-40B4-BE49-F238E27FC236}">
                <a16:creationId xmlns:a16="http://schemas.microsoft.com/office/drawing/2014/main" id="{1BAA1002-F742-CEDB-EB77-F822DD44A7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54211" y="1407478"/>
            <a:ext cx="7283578" cy="48534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0108205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8DE8C38-3D11-51AC-2D36-497A12C6A0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Inteligência Artificial</a:t>
            </a:r>
            <a:endParaRPr lang="en-US" dirty="0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45B32AE-C592-E24B-903D-9700AA26B2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13460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>
            <a:extLst>
              <a:ext uri="{FF2B5EF4-FFF2-40B4-BE49-F238E27FC236}">
                <a16:creationId xmlns:a16="http://schemas.microsoft.com/office/drawing/2014/main" id="{70258A2A-EC80-A5B5-3583-27F0C1399A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38175"/>
            <a:ext cx="12192000" cy="5581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307257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FD4BE22B-DEE0-E4C1-05D8-5DBDF1E190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8350" y="652462"/>
            <a:ext cx="8115300" cy="5553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769870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AF4B569-DC5A-3413-A985-41CE5668EC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IA, ChatGPT, LLM, etc.</a:t>
            </a:r>
            <a:endParaRPr lang="en-US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4BBB320-81AC-D202-D565-4FDDA59B3D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Dominem a tecnologia</a:t>
            </a:r>
          </a:p>
          <a:p>
            <a:r>
              <a:rPr lang="pt-BR" dirty="0"/>
              <a:t>Não se deixem dominar</a:t>
            </a:r>
            <a:endParaRPr lang="en-US" dirty="0"/>
          </a:p>
        </p:txBody>
      </p:sp>
      <p:pic>
        <p:nvPicPr>
          <p:cNvPr id="8194" name="Picture 2" descr="ChatGPT – Wikipédia, a enciclopédia livre">
            <a:extLst>
              <a:ext uri="{FF2B5EF4-FFF2-40B4-BE49-F238E27FC236}">
                <a16:creationId xmlns:a16="http://schemas.microsoft.com/office/drawing/2014/main" id="{2BDB172E-4014-6EEF-FA0E-4723305B4F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45661" y="1825625"/>
            <a:ext cx="3140616" cy="31406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4023962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D1B58604-7A77-C097-5629-59C44DE278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Trabalho e esforço</a:t>
            </a:r>
            <a:endParaRPr lang="en-US" dirty="0"/>
          </a:p>
        </p:txBody>
      </p:sp>
      <p:sp>
        <p:nvSpPr>
          <p:cNvPr id="5" name="Espaço Reservado para Conteúdo 4">
            <a:extLst>
              <a:ext uri="{FF2B5EF4-FFF2-40B4-BE49-F238E27FC236}">
                <a16:creationId xmlns:a16="http://schemas.microsoft.com/office/drawing/2014/main" id="{26D7A1E4-BA49-5511-BAE7-A2873F63E6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just"/>
            <a:r>
              <a:rPr lang="pt-BR" dirty="0"/>
              <a:t>“Nada resiste ao trabalho.” (Silvio Meira)</a:t>
            </a:r>
          </a:p>
          <a:p>
            <a:pPr algn="just"/>
            <a:r>
              <a:rPr lang="pt-BR" dirty="0"/>
              <a:t>“É o esforço constante e determinado que quebra a resistência, e varre todos os obstáculos.” (Claude M. Bristol)</a:t>
            </a:r>
          </a:p>
          <a:p>
            <a:pPr algn="just"/>
            <a:r>
              <a:rPr lang="pt-BR" dirty="0"/>
              <a:t>"Lembre que sem determinação de firme propósito, sem disciplina e esforço honesto, então talento e boa vontade não bastam para nenhuma vitória de real importância na nossa vida." (Hélio de Menezes)</a:t>
            </a:r>
          </a:p>
          <a:p>
            <a:pPr algn="just"/>
            <a:r>
              <a:rPr lang="pt-BR" dirty="0"/>
              <a:t>"Sonhos determinam o que você quer. Ação determina o que você conquista." (Aldo Novak)</a:t>
            </a:r>
          </a:p>
          <a:p>
            <a:pPr algn="just"/>
            <a:r>
              <a:rPr lang="pt-BR" dirty="0"/>
              <a:t>"Trabalha em algo, para que o diabo te encontre sempre ocupado." (São Jerônimo)</a:t>
            </a:r>
          </a:p>
          <a:p>
            <a:pPr algn="just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32194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9D975B-AE89-2EC8-8EAD-678E0FA2149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Dúvidas?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331400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437</TotalTime>
  <Words>963</Words>
  <Application>Microsoft Office PowerPoint</Application>
  <PresentationFormat>Widescreen</PresentationFormat>
  <Paragraphs>96</Paragraphs>
  <Slides>37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37</vt:i4>
      </vt:variant>
    </vt:vector>
  </HeadingPairs>
  <TitlesOfParts>
    <vt:vector size="43" baseType="lpstr">
      <vt:lpstr>Aptos</vt:lpstr>
      <vt:lpstr>Aptos Display</vt:lpstr>
      <vt:lpstr>Arial</vt:lpstr>
      <vt:lpstr>Roboto Black</vt:lpstr>
      <vt:lpstr>Yanone Kaffeesatz Bold</vt:lpstr>
      <vt:lpstr>Tema do Office</vt:lpstr>
      <vt:lpstr>Introdução à Programação 2026.1</vt:lpstr>
      <vt:lpstr>Dados Gerais</vt:lpstr>
      <vt:lpstr>Programa do Componente Curricular</vt:lpstr>
      <vt:lpstr>Programa do Componente Curricular</vt:lpstr>
      <vt:lpstr>Metodologia de Ensino e Avaliação</vt:lpstr>
      <vt:lpstr>Cronograma das Aulas </vt:lpstr>
      <vt:lpstr>Cronograma das Aulas </vt:lpstr>
      <vt:lpstr>Cronograma das Aulas </vt:lpstr>
      <vt:lpstr>Cronograma das Avaliações </vt:lpstr>
      <vt:lpstr>Frequência</vt:lpstr>
      <vt:lpstr>Frequência</vt:lpstr>
      <vt:lpstr>Apresentação do PowerPoint</vt:lpstr>
      <vt:lpstr>Referências</vt:lpstr>
      <vt:lpstr>Grupo no Telegram</vt:lpstr>
      <vt:lpstr>Como passar com  média 10,0?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Inteligência Artificial</vt:lpstr>
      <vt:lpstr>Apresentação do PowerPoint</vt:lpstr>
      <vt:lpstr>Apresentação do PowerPoint</vt:lpstr>
      <vt:lpstr>IA, ChatGPT, LLM, etc.</vt:lpstr>
      <vt:lpstr>Trabalho e esforço</vt:lpstr>
      <vt:lpstr>Dúvidas?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Alan Moraes</dc:creator>
  <cp:lastModifiedBy>Alan Moraes</cp:lastModifiedBy>
  <cp:revision>15</cp:revision>
  <dcterms:created xsi:type="dcterms:W3CDTF">2025-11-06T11:07:05Z</dcterms:created>
  <dcterms:modified xsi:type="dcterms:W3CDTF">2026-04-28T12:13:05Z</dcterms:modified>
</cp:coreProperties>
</file>